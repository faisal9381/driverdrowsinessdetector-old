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embeddedFontLst>
    <p:embeddedFont>
      <p:font typeface="JetBrains Mono"/>
      <p:regular r:id="rId201314"/>
    </p:embeddedFont>
    <p:embeddedFont>
      <p:font typeface="JetBrains Mono Medium"/>
      <p:regular r:id="rId201315"/>
    </p:embeddedFont>
    <p:embeddedFont>
      <p:font typeface="JetBrains Mono SemiBold"/>
      <p:regular r:id="rId201316"/>
    </p:embeddedFont>
    <p:embeddedFont>
      <p:font typeface="JetBrains Mon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2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1C1F22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77863"/>
            <a:ext cx="4876678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b="1" spc="-115" kern="100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VIGIDRIVE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9585" y="1398588"/>
            <a:ext cx="4876678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800" spc="168" kern="100" dirty="0">
                <a:solidFill>
                  <a:srgbClr val="FFFFFF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INTELLIGENT DRIVER DROWSINESS DETECTION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585" y="2254250"/>
            <a:ext cx="487667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Real-time facial monitoring turns visual cues into an alertness decision.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2960052"/>
            <a:ext cx="487667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" kern="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9585" y="3253680"/>
            <a:ext cx="487667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Webcam video processed with Python and OpenCV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585" y="4264283"/>
            <a:ext cx="487667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" kern="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SIGNALS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9585" y="4557911"/>
            <a:ext cx="487667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Eye closure · PERCLOS · yawning · head position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585" y="5568513"/>
            <a:ext cx="487667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" kern="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OUTCOMES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585" y="5862141"/>
            <a:ext cx="4876678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CO1 · CO2 · CO5 · CO6</a:t>
            </a:r>
            <a:endParaRPr lang="en-US" sz="15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09585" y="4028380"/>
            <a:ext cx="4876678" cy="12700"/>
          </a:xfrm>
          <a:prstGeom prst="rect">
            <a:avLst/>
          </a:prstGeom>
          <a:solidFill>
            <a:srgbClr val="5AD4E6"/>
          </a:solidFill>
          <a:ln/>
        </p:spPr>
      </p:sp>
      <p:sp>
        <p:nvSpPr>
          <p:cNvPr id="14" name="Shape 11"/>
          <p:cNvSpPr/>
          <p:nvPr/>
        </p:nvSpPr>
        <p:spPr>
          <a:xfrm>
            <a:off x="609585" y="5332611"/>
            <a:ext cx="4876678" cy="12700"/>
          </a:xfrm>
          <a:prstGeom prst="rect">
            <a:avLst/>
          </a:prstGeom>
          <a:solidFill>
            <a:srgbClr val="5AD4E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" kern="10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/pipeline/frame-to-decision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150243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800" spc="168" kern="100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FROM VIDEO INPUT TO DROWSINESS PREDICTION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50305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continuous frame-by-frame path from camera data to a monitoring decision.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2155130"/>
            <a:ext cx="10972526" cy="635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5" y="4108946"/>
            <a:ext cx="10972526" cy="635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31388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2580580"/>
            <a:ext cx="1950592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9" name="Text 7"/>
          <p:cNvSpPr/>
          <p:nvPr/>
        </p:nvSpPr>
        <p:spPr>
          <a:xfrm>
            <a:off x="609585" y="2719963"/>
            <a:ext cx="1950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WEBCAM INPUT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9585" y="3127871"/>
            <a:ext cx="195069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Capture the live video stream.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64969" y="231388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64969" y="2580580"/>
            <a:ext cx="1950592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13" name="Text 11"/>
          <p:cNvSpPr/>
          <p:nvPr/>
        </p:nvSpPr>
        <p:spPr>
          <a:xfrm>
            <a:off x="2864969" y="2719963"/>
            <a:ext cx="1950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PREPROCESS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64969" y="3127871"/>
            <a:ext cx="1950691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Prepare each frame for analysis.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20353" y="231388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20353" y="2580580"/>
            <a:ext cx="1950889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353" y="2719963"/>
            <a:ext cx="195088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EXTRACT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20353" y="3127871"/>
            <a:ext cx="195088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Measure facial and behavioral cues.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75936" y="231388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75936" y="2580580"/>
            <a:ext cx="1950592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21" name="Text 19"/>
          <p:cNvSpPr/>
          <p:nvPr/>
        </p:nvSpPr>
        <p:spPr>
          <a:xfrm>
            <a:off x="7375936" y="2719963"/>
            <a:ext cx="1950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CLASSIFY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75936" y="3127871"/>
            <a:ext cx="195069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Estimate alert versus drowsy.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31320" y="231388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631320" y="2580580"/>
            <a:ext cx="1950691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25" name="Text 23"/>
          <p:cNvSpPr/>
          <p:nvPr/>
        </p:nvSpPr>
        <p:spPr>
          <a:xfrm>
            <a:off x="9631320" y="2719963"/>
            <a:ext cx="195079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MONITOR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631320" y="3127871"/>
            <a:ext cx="195079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Expose the real-time output.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09585" y="4525982"/>
            <a:ext cx="548626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79" kern="100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CURRENT SYSTEM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9585" y="4802981"/>
            <a:ext cx="548626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Feature-based detection with predefined logic.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73643" y="4525982"/>
            <a:ext cx="5308467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79" kern="100" dirty="0">
                <a:solidFill>
                  <a:srgbClr val="5AD4E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FUTURE PATH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73643" y="4802981"/>
            <a:ext cx="530846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Labelled data → training → validation → model selection.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089498" y="4343896"/>
            <a:ext cx="12700" cy="1189335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32" name="Text 30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52" kern="10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" kern="10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/features/face-to-state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150243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800" spc="168" kern="100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MEANINGFUL FEATURES TURN FACES INTO DECISIONS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50305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model begins with interpretable signals, not opaque pixels.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8488" y="2091630"/>
            <a:ext cx="6314619" cy="2285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99550" y="2443799"/>
            <a:ext cx="3895983" cy="18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68" kern="1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VISIBLE FACE CUES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399550" y="3138400"/>
            <a:ext cx="3895983" cy="18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68" kern="1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EXTRACTED MEASUREMENTS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399550" y="3826686"/>
            <a:ext cx="3895983" cy="18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68" kern="1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ALERT VS DROWSY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09585" y="4546918"/>
            <a:ext cx="5333867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79" kern="100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OBSERVE + MEASURE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9585" y="4823916"/>
            <a:ext cx="5333867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Eye closure and blink duration; yawning indicators and head-position behavior. PERCLOS: proportion of time the eyes remain closed.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48244" y="4546918"/>
            <a:ext cx="5333867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79" kern="100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DECIDE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48244" y="4823916"/>
            <a:ext cx="533386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Feature-based scoring for alert versus drowsy states.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248244" y="5485269"/>
            <a:ext cx="533386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52" kern="1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&gt; proposed enhancement: logistic regression estimates drowsiness probability from labelled features; scaling and regularisation matter.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52" kern="10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819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" kern="10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/models/selection-constraint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1643"/>
            <a:ext cx="1097252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800" spc="168" kern="100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THE CLASSIFIER MUST FIT THE REAL-TIME CONSTRAINT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777305"/>
          <a:ext cx="10972526" cy="914400"/>
        </p:xfrm>
        <a:graphic>
          <a:graphicData uri="http://schemas.openxmlformats.org/drawingml/2006/table">
            <a:tbl>
              <a:tblPr/>
              <a:tblGrid>
                <a:gridCol w="2413932"/>
                <a:gridCol w="1755533"/>
                <a:gridCol w="3181965"/>
                <a:gridCol w="3621096"/>
              </a:tblGrid>
              <a:tr h="787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spc="90" kern="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APPROACH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spc="90" kern="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STATUS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spc="90" kern="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INTERPRETABILITY / LOGIC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spc="90" kern="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COMPLEXITY / REAL-TIME FIT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Feature-based scoring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Current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Interpretable; predefined decision logic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Lightweight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Logistic regression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Proposed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Labelled binary classifier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Probability output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35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Random forest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Optional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Alternative for nonlinear feature relationships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Compare computational complexity and real-time suitability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5368230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Compare interpretability, computational complexity, and real-time suitability.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09585" y="5809555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spc="37" kern="100" dirty="0">
                <a:solidFill>
                  <a:srgbClr val="F0C4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MORE COMPLEXITY ≠ AUTOMATICALLY MORE ACCURATE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09585" y="625183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" kern="10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Evaluation decides.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52" kern="10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" kern="10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/evaluation/error-cost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150243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800" spc="168" kern="100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RELIABILITY REQUIRES MORE THAN ACCURACY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50305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drowsiness detector must show what it misses, catches, and how often it raises a false alarm.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2108617"/>
            <a:ext cx="548626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79" kern="100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CONCEPTUAL CONFUSION MATRIX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385616"/>
          <a:ext cx="5257669" cy="914400"/>
        </p:xfrm>
        <a:graphic>
          <a:graphicData uri="http://schemas.openxmlformats.org/drawingml/2006/table">
            <a:tbl>
              <a:tblPr/>
              <a:tblGrid>
                <a:gridCol w="1577281"/>
                <a:gridCol w="1840144"/>
                <a:gridCol w="1840244"/>
              </a:tblGrid>
              <a:tr h="787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spc="90" kern="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ACTUAL ALERT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spc="90" kern="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ACTUAL DROWSY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PREDICTED ALERT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TN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F5C93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FN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PREDICTED DROWSY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0C45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FP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TP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4869418"/>
            <a:ext cx="548626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" kern="10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Conceptual only. No measured performance is shown.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324442" y="2108617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79" kern="100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METRICS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442" y="2385616"/>
            <a:ext cx="5257668" cy="6604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2" y="3153966"/>
            <a:ext cx="5257668" cy="33020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2" y="3592116"/>
            <a:ext cx="5257668" cy="3302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4030266"/>
            <a:ext cx="5257668" cy="6604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09585" y="5283696"/>
            <a:ext cx="530846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0C45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RECALL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matters because missed drowsiness can be safety-critical.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6273643" y="5283696"/>
            <a:ext cx="530846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5AD4E6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VALIDATION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must span lighting, facial visibility, and camera-position conditions.</a:t>
            </a:r>
            <a:endParaRPr lang="en-US" sz="1500" dirty="0"/>
          </a:p>
        </p:txBody>
      </p:sp>
      <p:sp>
        <p:nvSpPr>
          <p:cNvPr id="15" name="Shape 8"/>
          <p:cNvSpPr/>
          <p:nvPr/>
        </p:nvSpPr>
        <p:spPr>
          <a:xfrm>
            <a:off x="6089498" y="2053530"/>
            <a:ext cx="12700" cy="3052366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6" name="Shape 9"/>
          <p:cNvSpPr/>
          <p:nvPr/>
        </p:nvSpPr>
        <p:spPr>
          <a:xfrm>
            <a:off x="6089498" y="5232896"/>
            <a:ext cx="12700" cy="65405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7" name="Text 10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52" kern="10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10" kern="10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/engineering/continuous-inference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150243"/>
            <a:ext cx="1097252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800" spc="168" kern="100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REAL-TIME ML ENGINEERING AND FUTURE IMPROVEMENTS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005905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application is a modular Python/OpenCV system with continuous frame-by-frame inference.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2459930"/>
            <a:ext cx="10972526" cy="635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5" y="3861296"/>
            <a:ext cx="10972526" cy="635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7" name="Text 5"/>
          <p:cNvSpPr/>
          <p:nvPr/>
        </p:nvSpPr>
        <p:spPr>
          <a:xfrm>
            <a:off x="812780" y="261868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2780" y="2885380"/>
            <a:ext cx="2108048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9" name="Text 7"/>
          <p:cNvSpPr/>
          <p:nvPr/>
        </p:nvSpPr>
        <p:spPr>
          <a:xfrm>
            <a:off x="812780" y="3024763"/>
            <a:ext cx="210814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CAPTURE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2780" y="3432671"/>
            <a:ext cx="231134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Video frame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32109" y="261868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32109" y="2885380"/>
            <a:ext cx="2108048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13" name="Text 11"/>
          <p:cNvSpPr/>
          <p:nvPr/>
        </p:nvSpPr>
        <p:spPr>
          <a:xfrm>
            <a:off x="3632109" y="3024763"/>
            <a:ext cx="210814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PROCESS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32109" y="3432671"/>
            <a:ext cx="231134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Facial features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51439" y="261868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51439" y="2885380"/>
            <a:ext cx="2108048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51439" y="3024763"/>
            <a:ext cx="210814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CLASSIFY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51439" y="3432671"/>
            <a:ext cx="231134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 estimate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70768" y="261868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270768" y="2885380"/>
            <a:ext cx="2108048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21" name="Text 19"/>
          <p:cNvSpPr/>
          <p:nvPr/>
        </p:nvSpPr>
        <p:spPr>
          <a:xfrm>
            <a:off x="9270768" y="3024763"/>
            <a:ext cx="210814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DISPLAY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270768" y="3432671"/>
            <a:ext cx="231134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Monitoring status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9585" y="4075132"/>
            <a:ext cx="548626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79" kern="100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ENGINEERING PRIORITIES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9585" y="4352131"/>
            <a:ext cx="52576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 latency, prediction stability, and detection-failure monitoring.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24442" y="4075132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79" kern="100" dirty="0">
                <a:solidFill>
                  <a:srgbClr val="5AD4E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FUTURE IMPROVEMENTS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24442" y="4352131"/>
            <a:ext cx="52576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Labelled datasets, trained classifiers, and evaluation across varied conditions.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09585" y="5082381"/>
            <a:ext cx="10972526" cy="815181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8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VigiDrive combines computer vision, feature engineering, classification, and ML engineering for real-time driver drowsiness monitoring.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089498" y="4070846"/>
            <a:ext cx="12700" cy="833735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29" name="Text 27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52" kern="10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2026-10-13T07:19:54Z</dcterms:created>
  <dcterms:modified xsi:type="dcterms:W3CDTF">2026-10-13T07:19:54Z</dcterms:modified>
</cp:coreProperties>
</file>